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E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E2F"/>
                </a:solidFill>
                <a:latin typeface="Calibri"/>
              </a:rPr>
              <a:t>Appointment outcomes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rate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E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C7A7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No-show</c:v>
                  </c:pt>
                  <c:pt idx="1">
                    <c:v>Attendance</c:v>
                  </c:pt>
                  <c:pt idx="2">
                    <c:v>Cancellation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48.46</c:v>
                </c:pt>
                <c:pt idx="1">
                  <c:v>46.28</c:v>
                </c:pt>
                <c:pt idx="2">
                  <c:v>5.26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E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E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E2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0-9d</c:v>
                  </c:pt>
                  <c:pt idx="1">
                    <c:v>10-19d</c:v>
                  </c:pt>
                  <c:pt idx="2">
                    <c:v>20-29d</c:v>
                  </c:pt>
                  <c:pt idx="3">
                    <c:v>30-39d</c:v>
                  </c:pt>
                  <c:pt idx="4">
                    <c:v>40-49d</c:v>
                  </c:pt>
                  <c:pt idx="5">
                    <c:v>50-59d</c:v>
                  </c:pt>
                  <c:pt idx="6">
                    <c:v>60+d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</c:v>
                </c:pt>
                <c:pt idx="1">
                  <c:v>37</c:v>
                </c:pt>
                <c:pt idx="2">
                  <c:v>44</c:v>
                </c:pt>
                <c:pt idx="3">
                  <c:v>51</c:v>
                </c:pt>
                <c:pt idx="4">
                  <c:v>62</c:v>
                </c:pt>
                <c:pt idx="5">
                  <c:v>68</c:v>
                </c:pt>
                <c:pt idx="6">
                  <c:v>68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E2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E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E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53</c:v>
                </c:pt>
                <c:pt idx="2">
                  <c:v>59</c:v>
                </c:pt>
                <c:pt idx="3">
                  <c:v>68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E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E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LAB INTERNSHIP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Analytics &amp; Decision Support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Patient Appointment Attendance and Healthcare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Using Data and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Lisemanyane Mporoane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FD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Track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Addressed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HealthConnect needed to understand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64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patients miss appointments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drivers behind non-attendance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88" y="1764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90488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85800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patterns are associated with no-shows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0" y="21305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behavioural and scheduling signals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73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operational attention should be focused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limited staff resources effectively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0175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0488" y="3273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85800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analytics could support better management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0" y="36393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the clinic can act 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2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53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8280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the appointment data tell us about patient non-attendance?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dataset and tools used for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063240"/>
            <a:ext cx="2468880" cy="0"/>
          </a:xfrm>
          <a:prstGeom prst="line">
            <a:avLst/>
          </a:prstGeom>
          <a:noFill/>
          <a:ln w="12700">
            <a:solidFill>
              <a:srgbClr val="0F5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fields analysed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434840"/>
            <a:ext cx="2468880" cy="0"/>
          </a:xfrm>
          <a:prstGeom prst="line">
            <a:avLst/>
          </a:prstGeom>
          <a:noFill/>
          <a:ln w="12700">
            <a:solidFill>
              <a:srgbClr val="0F5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09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Power BI  ·  DAX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CATEGORIES CAPTURED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920240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205740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92024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05740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192024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information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2487168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840" y="26243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48716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2487168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26243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248716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no-shows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3054096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4840" y="319125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05409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information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3054096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19125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305409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waiting time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7680" y="3621024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/>
        </p:spPr>
      </p:sp>
      <p:sp>
        <p:nvSpPr>
          <p:cNvPr id="32" name="Shape 30"/>
          <p:cNvSpPr/>
          <p:nvPr/>
        </p:nvSpPr>
        <p:spPr>
          <a:xfrm>
            <a:off x="4434840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62102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outcome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297680" y="4434840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F2F8F7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590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SAID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17720" y="486460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worked with 5,000 appointment records, analysing demographic, behavioural and appointment-related variables — with Power BI for the dashboard and DAX for metric validation.”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Validated KPIs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calculated percentages across 5,000 appointments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417320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F2F8F7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41732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732520" y="141732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03720" y="2395728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F2F8F7"/>
          </a:solidFill>
          <a:ln/>
        </p:spPr>
      </p:sp>
      <p:sp>
        <p:nvSpPr>
          <p:cNvPr id="9" name="Text 6"/>
          <p:cNvSpPr/>
          <p:nvPr/>
        </p:nvSpPr>
        <p:spPr>
          <a:xfrm>
            <a:off x="7086600" y="239572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2,423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732520" y="2395728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appointments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03720" y="3374136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F2F8F7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337413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48.46%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732520" y="3374136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03720" y="4352544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F2F8F7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435254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53.72%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732520" y="435254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non-attendance rate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23436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34924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testing and validation, the final no-show rate was 48.46% (2,423 of 5,000 appointments) — different analyses had produced different headline figures.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analytical patterns in no-show behaviour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 → No-show rate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7223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7040880" cy="502920"/>
          </a:xfrm>
          <a:prstGeom prst="roundRect">
            <a:avLst>
              <a:gd name="adj" fmla="val 10909"/>
            </a:avLst>
          </a:prstGeom>
          <a:solidFill>
            <a:srgbClr val="F2F8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069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days plateaus around 68% — treated as a plateau, not continued growth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No-Shows → No-show rate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863840" y="1600200"/>
          <a:ext cx="37947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23436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4400" y="523036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reminder: 51% no-show      Reminder sent: 47% no-show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75120" y="4937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 and previous no-shows were the two strongest patterns; no-show rates rose sharply as lead time and prior no-shows increased.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Refinement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pattern is not enough — it must be validated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TESTED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6596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4688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97180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346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Age-group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47472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375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97764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8404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no-shows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48056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days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4983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846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status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548640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3492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channels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852160"/>
            <a:ext cx="5120640" cy="438912"/>
          </a:xfrm>
          <a:prstGeom prst="roundRect">
            <a:avLst>
              <a:gd name="adj" fmla="val 50000"/>
            </a:avLst>
          </a:prstGeom>
          <a:solidFill>
            <a:srgbClr val="F2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598932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8521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variables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146304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023436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REFINEMENTS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55080" y="2057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were interpreted alongside sample sizes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were treated cautiously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booking days identified as a plateau, not continued growth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claims were made from observational data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filters were tested and cleared successfully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2F8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E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booking lead times are associated with higher observed no-show rates.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no-shows are associated with increased future no-show rates.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recipients had a lower observed no-show rate than patients without reminders.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extreme percentages came from very small groups.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differences were relatively modest compared with behavioural and scheduling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14300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8660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operational attention on appointments booked far in advance.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stronger follow-up for patients with previous no-shows.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evaluating reminder strategies.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no-show patterns through the dashboard.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validated analytics alongside predictive models rather than treating any single pattern as causal.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·  Data Analytics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028090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HealthConnect Solution &amp; Closing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DATA ANALYTICS CONTRIBUTION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0B4A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50876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0B4A4E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5087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0B4A4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5087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0B4A4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762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findings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176272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0B4A4E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1762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176272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0B4A4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1762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HEALTHCONNECT SOLUTION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146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1460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component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14600" y="3968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514600" y="43525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user interaction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736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14600" y="4736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solution &amp; decision-making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18872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0B4A4E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6537960" y="19202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main takeaway is that analytics is not simply about producing numbers. It is about validating those numbers, understanding their limitations, and turning them into information that can support better decisions.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3886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 provides the analytical foundation that can be integrated with the other HealthConnect components to create a more complete healthcare solution.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Lisemanyane Mporoane  ·  Data Analytics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2026-09-23T10:08:54Z</dcterms:created>
  <dcterms:modified xsi:type="dcterms:W3CDTF">2026-09-23T10:08:54Z</dcterms:modified>
</cp:coreProperties>
</file>